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200400"/>
            <a:ext cx="58521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50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200" b="1" dirty="0">
                <a:solidFill>
                  <a:srgbClr val="14142B"/>
                </a:solidFill>
                <a:latin typeface="Calibri"/>
              </a:rPr>
              <a:t>Theme: </a:t>
            </a:r>
            <a:r>
              <a:rPr sz="1200" b="0" dirty="0">
                <a:solidFill>
                  <a:srgbClr val="63637E"/>
                </a:solidFill>
                <a:latin typeface="Calibri"/>
              </a:rPr>
              <a:t>Theme 01 — Agentic Code Intelligence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dirty="0">
                <a:solidFill>
                  <a:srgbClr val="14142B"/>
                </a:solidFill>
                <a:latin typeface="Calibri"/>
              </a:rPr>
              <a:t>Team: </a:t>
            </a:r>
            <a:r>
              <a:rPr lang="en-IN" sz="1200" dirty="0">
                <a:solidFill>
                  <a:srgbClr val="63637E"/>
                </a:solidFill>
                <a:latin typeface="Calibri"/>
              </a:rPr>
              <a:t>VIT_CodeNexus_1</a:t>
            </a:r>
            <a:endParaRPr sz="1200" b="0" dirty="0">
              <a:solidFill>
                <a:srgbClr val="63637E"/>
              </a:solidFill>
              <a:latin typeface="Calibri"/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dirty="0">
                <a:solidFill>
                  <a:srgbClr val="14142B"/>
                </a:solidFill>
                <a:latin typeface="Calibri"/>
              </a:rPr>
              <a:t>College: </a:t>
            </a:r>
            <a:r>
              <a:rPr sz="1200" b="0" dirty="0">
                <a:solidFill>
                  <a:srgbClr val="63637E"/>
                </a:solidFill>
                <a:latin typeface="Calibri"/>
              </a:rPr>
              <a:t>Vellore Institute of Technology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dirty="0">
                <a:solidFill>
                  <a:srgbClr val="14142B"/>
                </a:solidFill>
                <a:latin typeface="Calibri"/>
              </a:rPr>
              <a:t>Member 1: </a:t>
            </a:r>
            <a:r>
              <a:rPr sz="1200" b="0" dirty="0">
                <a:solidFill>
                  <a:srgbClr val="63637E"/>
                </a:solidFill>
                <a:latin typeface="Calibri"/>
              </a:rPr>
              <a:t>Mithun Venkatesan (mithun.venkatesan2023@vitstudent.ac.in)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dirty="0">
                <a:solidFill>
                  <a:srgbClr val="14142B"/>
                </a:solidFill>
                <a:latin typeface="Calibri"/>
              </a:rPr>
              <a:t>Member 2: </a:t>
            </a:r>
            <a:r>
              <a:rPr sz="1200" b="0" dirty="0">
                <a:solidFill>
                  <a:srgbClr val="63637E"/>
                </a:solidFill>
                <a:latin typeface="Calibri"/>
              </a:rPr>
              <a:t>Kavin M (kavin.m2023@vitstudent.ac.in)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dirty="0">
                <a:solidFill>
                  <a:srgbClr val="14142B"/>
                </a:solidFill>
                <a:latin typeface="Calibri"/>
              </a:rPr>
              <a:t>Member 3: </a:t>
            </a:r>
            <a:r>
              <a:rPr sz="1200" b="0" dirty="0" err="1">
                <a:solidFill>
                  <a:srgbClr val="63637E"/>
                </a:solidFill>
                <a:latin typeface="Calibri"/>
              </a:rPr>
              <a:t>Akhiil</a:t>
            </a:r>
            <a:r>
              <a:rPr sz="1200" b="0" dirty="0">
                <a:solidFill>
                  <a:srgbClr val="63637E"/>
                </a:solidFill>
                <a:latin typeface="Calibri"/>
              </a:rPr>
              <a:t> Dheep B (akhiildheep.b2023@vitstudent.ac.in)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 b="1" dirty="0">
                <a:solidFill>
                  <a:srgbClr val="14142B"/>
                </a:solidFill>
                <a:latin typeface="Calibri"/>
              </a:rPr>
              <a:t>GitHub: </a:t>
            </a:r>
            <a:r>
              <a:rPr sz="1200" b="0" dirty="0">
                <a:solidFill>
                  <a:srgbClr val="63637E"/>
                </a:solidFill>
                <a:latin typeface="Calibri"/>
              </a:rPr>
              <a:t>https://github.com/Mithun-Newt/agentic_code_intelligence.git</a:t>
            </a: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Theme: Agentic Code Intelligence</a:t>
            </a:r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838504" y="137160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67104" y="1536192"/>
            <a:ext cx="46634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The problem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AI coding agents must find the right files and code blocks before they can fix bugs or add features.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This is code retrieval: given a natural-language query, rank code snippets by relevance.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It is hard because queries describe intent, while code is terse and shares few keywords with the query.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233464" y="137160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462064" y="1536192"/>
            <a:ext cx="46634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Scope of our submission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1">
                <a:solidFill>
                  <a:srgbClr val="6D28D9"/>
                </a:solidFill>
                <a:latin typeface="Calibri"/>
              </a:rPr>
              <a:t>Shipped (P0): </a:t>
            </a:r>
            <a:r>
              <a:rPr sz="1600" b="0">
                <a:solidFill>
                  <a:srgbClr val="14142B"/>
                </a:solidFill>
                <a:latin typeface="Calibri"/>
              </a:rPr>
              <a:t>dense semantic retrieval, run on CPU.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1">
                <a:solidFill>
                  <a:srgbClr val="6D28D9"/>
                </a:solidFill>
                <a:latin typeface="Calibri"/>
              </a:rPr>
              <a:t>Out of scope: </a:t>
            </a:r>
            <a:r>
              <a:rPr sz="1600" b="0">
                <a:solidFill>
                  <a:srgbClr val="14142B"/>
                </a:solidFill>
                <a:latin typeface="Calibri"/>
              </a:rPr>
              <a:t>LLM answer generation, code explanation, chatbots.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1">
                <a:solidFill>
                  <a:srgbClr val="6D28D9"/>
                </a:solidFill>
                <a:latin typeface="Calibri"/>
              </a:rPr>
              <a:t>Future work: </a:t>
            </a:r>
            <a:r>
              <a:rPr sz="1600" b="0">
                <a:solidFill>
                  <a:srgbClr val="14142B"/>
                </a:solidFill>
                <a:latin typeface="Calibri"/>
              </a:rPr>
              <a:t>P1/P2 items on the “What’s Next” slide; none are implemented.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38504" y="457200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Screening benchmark: CoIR AppsRetrieval (MTEB) test split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3,765 test queries  ·  8,765 code documents  ·  Metrics: NDCG@10, MRR@10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Existing Solutions &amp; Gaps</a:t>
            </a:r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838504" y="1371600"/>
            <a:ext cx="10515600" cy="173736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067104" y="1508760"/>
            <a:ext cx="5760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Experiment 0 baseline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142B"/>
                </a:solidFill>
                <a:latin typeface="Calibri"/>
              </a:rPr>
              <a:t>Flat dense retrieval with intfloat/e5-base-v2, default “query: ” / “passage: ” prefixes, and exact cosine search over normalized vectors.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637E"/>
                </a:solidFill>
                <a:latin typeface="Calibri"/>
              </a:rPr>
              <a:t>Measured on the full CoIR Apps test split.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02144" y="1645920"/>
            <a:ext cx="1280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6D28D9"/>
                </a:solidFill>
                <a:latin typeface="Calibri"/>
              </a:rPr>
              <a:t>0.11523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637E"/>
                </a:solidFill>
                <a:latin typeface="Calibri"/>
              </a:rPr>
              <a:t>NDCG@10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519464" y="1645920"/>
            <a:ext cx="1280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6D28D9"/>
                </a:solidFill>
                <a:latin typeface="Calibri"/>
              </a:rPr>
              <a:t>0.09878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637E"/>
                </a:solidFill>
                <a:latin typeface="Calibri"/>
              </a:rPr>
              <a:t>MRR@10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936784" y="1645920"/>
            <a:ext cx="1280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6D28D9"/>
                </a:solidFill>
                <a:latin typeface="Calibri"/>
              </a:rPr>
              <a:t>0.16919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637E"/>
                </a:solidFill>
                <a:latin typeface="Calibri"/>
              </a:rPr>
              <a:t>Recall@10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38504" y="3291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42B"/>
                </a:solidFill>
                <a:latin typeface="Calibri"/>
              </a:rPr>
              <a:t>Gaps in existing approaches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38504" y="3749039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067104" y="3931920"/>
            <a:ext cx="411480" cy="4114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15744" y="39319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Semantic-to-code divide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67104" y="452628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42B"/>
                </a:solidFill>
                <a:latin typeface="Calibri"/>
              </a:rPr>
              <a:t>Queries describe an abstract problem; the matching code has terse names and little keyword overlap.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450384" y="3749039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678984" y="3931920"/>
            <a:ext cx="411480" cy="4114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27624" y="39319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General-purpose embeddings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78984" y="452628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42B"/>
                </a:solidFill>
                <a:latin typeface="Calibri"/>
              </a:rPr>
              <a:t>Standard text embeddings are not tuned for code retrieval. The E5 baseline reaches only 0.11523 NDCG@10.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062264" y="3749039"/>
            <a:ext cx="3291840" cy="210312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8290864" y="3931920"/>
            <a:ext cx="411480" cy="4114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39504" y="39319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Heavy ranking pipelines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90864" y="452628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142B"/>
                </a:solidFill>
                <a:latin typeface="Calibri"/>
              </a:rPr>
              <a:t>LLM-based ranking is slow and cannot fit thousands of long snippets in context; the brief expects CPU-friendly retrieval.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Our Solution &amp; Architecture</a:t>
            </a:r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838504" y="1371600"/>
            <a:ext cx="4572000" cy="461772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67104" y="1536192"/>
            <a:ext cx="411480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Our method: P0 dense retrieval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</a:rPr>
              <a:t>Model: </a:t>
            </a:r>
            <a:r>
              <a:rPr sz="1400" b="0">
                <a:solidFill>
                  <a:srgbClr val="14142B"/>
                </a:solidFill>
                <a:latin typeface="Calibri"/>
              </a:rPr>
              <a:t>google/embeddinggemma-300m (300M parameters, 768-dim), chosen by a controlled comparison on 200 validation queries.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</a:rPr>
              <a:t>Task-specific prompts: </a:t>
            </a:r>
            <a:r>
              <a:rPr sz="1400" b="0">
                <a:solidFill>
                  <a:srgbClr val="14142B"/>
                </a:solidFill>
                <a:latin typeface="Calibri"/>
              </a:rPr>
              <a:t>queries use “task: search result | query: ”; code uses “title: none | text: ”.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</a:rPr>
              <a:t>Exact search: </a:t>
            </a:r>
            <a:r>
              <a:rPr sz="1400" b="0">
                <a:solidFill>
                  <a:srgbClr val="14142B"/>
                </a:solidFill>
                <a:latin typeface="Calibri"/>
              </a:rPr>
              <a:t>L2-normalized embeddings with FAISS IndexFlatIP, so inner product equals cosine similarity.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</a:rPr>
              <a:t>Integration: </a:t>
            </a:r>
            <a:r>
              <a:rPr sz="1400" b="0">
                <a:solidFill>
                  <a:srgbClr val="14142B"/>
                </a:solidFill>
                <a:latin typeface="Calibri"/>
              </a:rPr>
              <a:t>implemented as an MTEB AbsEncoder (PrePostPipelineEncoder).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1">
                <a:solidFill>
                  <a:srgbClr val="14142B"/>
                </a:solidFill>
                <a:latin typeface="Calibri"/>
              </a:rPr>
              <a:t>Access fallback: </a:t>
            </a:r>
            <a:r>
              <a:rPr sz="1400" b="0">
                <a:solidFill>
                  <a:srgbClr val="14142B"/>
                </a:solidFill>
                <a:latin typeface="Calibri"/>
              </a:rPr>
              <a:t>RedHatAI/embeddinggemma-300m mirror if the original model cannot be downloaded.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172200" y="1371600"/>
            <a:ext cx="301752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42B"/>
                </a:solidFill>
                <a:latin typeface="Calibri"/>
              </a:rPr>
              <a:t>Natural Language Query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637E"/>
                </a:solidFill>
                <a:latin typeface="Calibri"/>
              </a:rPr>
              <a:t>e.g. “binary search on sorted array”</a:t>
            </a:r>
          </a:p>
        </p:txBody>
      </p:sp>
      <p:sp>
        <p:nvSpPr>
          <p:cNvPr id="118" name="Down Arrow 117"/>
          <p:cNvSpPr/>
          <p:nvPr/>
        </p:nvSpPr>
        <p:spPr>
          <a:xfrm>
            <a:off x="7562088" y="1993392"/>
            <a:ext cx="237744" cy="146304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172200" y="2157984"/>
            <a:ext cx="301752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42B"/>
                </a:solidFill>
                <a:latin typeface="Calibri"/>
              </a:rPr>
              <a:t>Task-specific Query Prompt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637E"/>
                </a:solidFill>
                <a:latin typeface="Calibri"/>
              </a:rPr>
              <a:t>task: search result | query: </a:t>
            </a:r>
          </a:p>
        </p:txBody>
      </p:sp>
      <p:sp>
        <p:nvSpPr>
          <p:cNvPr id="120" name="Down Arrow 119"/>
          <p:cNvSpPr/>
          <p:nvPr/>
        </p:nvSpPr>
        <p:spPr>
          <a:xfrm>
            <a:off x="7562088" y="2779776"/>
            <a:ext cx="237744" cy="146304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6172200" y="2944368"/>
            <a:ext cx="301752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42B"/>
                </a:solidFill>
                <a:latin typeface="Calibri"/>
              </a:rPr>
              <a:t>EmbeddingGemma-300M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637E"/>
                </a:solidFill>
                <a:latin typeface="Calibri"/>
              </a:rPr>
              <a:t>768-dim dense embedding, CPU</a:t>
            </a:r>
          </a:p>
        </p:txBody>
      </p:sp>
      <p:sp>
        <p:nvSpPr>
          <p:cNvPr id="122" name="Down Arrow 121"/>
          <p:cNvSpPr/>
          <p:nvPr/>
        </p:nvSpPr>
        <p:spPr>
          <a:xfrm>
            <a:off x="7562088" y="3566160"/>
            <a:ext cx="237744" cy="146304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6172200" y="3730752"/>
            <a:ext cx="301752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42B"/>
                </a:solidFill>
                <a:latin typeface="Calibri"/>
              </a:rPr>
              <a:t>L2 Normalization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637E"/>
                </a:solidFill>
                <a:latin typeface="Calibri"/>
              </a:rPr>
              <a:t>unit-length vectors: inner product = cosine</a:t>
            </a:r>
          </a:p>
        </p:txBody>
      </p:sp>
      <p:sp>
        <p:nvSpPr>
          <p:cNvPr id="124" name="Down Arrow 123"/>
          <p:cNvSpPr/>
          <p:nvPr/>
        </p:nvSpPr>
        <p:spPr>
          <a:xfrm>
            <a:off x="7562088" y="4352544"/>
            <a:ext cx="237744" cy="146304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6172200" y="4517136"/>
            <a:ext cx="3017520" cy="6035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42B"/>
                </a:solidFill>
                <a:latin typeface="Calibri"/>
              </a:rPr>
              <a:t>FAISS IndexFlatIP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637E"/>
                </a:solidFill>
                <a:latin typeface="Calibri"/>
              </a:rPr>
              <a:t>exact inner-product search</a:t>
            </a:r>
          </a:p>
        </p:txBody>
      </p:sp>
      <p:sp>
        <p:nvSpPr>
          <p:cNvPr id="126" name="Down Arrow 125"/>
          <p:cNvSpPr/>
          <p:nvPr/>
        </p:nvSpPr>
        <p:spPr>
          <a:xfrm>
            <a:off x="7562088" y="5138928"/>
            <a:ext cx="237744" cy="146304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6172200" y="5303520"/>
            <a:ext cx="3017520" cy="603504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Ranked Top-K 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DE9FE"/>
                </a:solidFill>
                <a:latin typeface="Calibri"/>
              </a:rPr>
              <a:t>code snippets with cosine scores</a:t>
            </a:r>
          </a:p>
        </p:txBody>
      </p:sp>
      <p:sp>
        <p:nvSpPr>
          <p:cNvPr id="128" name="Left Arrow 127"/>
          <p:cNvSpPr/>
          <p:nvPr/>
        </p:nvSpPr>
        <p:spPr>
          <a:xfrm>
            <a:off x="9738360" y="4581144"/>
            <a:ext cx="320040" cy="256032"/>
          </a:xfrm>
          <a:prstGeom prst="lef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10104120" y="3950208"/>
            <a:ext cx="1252728" cy="173736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6D28D9"/>
                </a:solidFill>
                <a:latin typeface="Calibri"/>
              </a:rPr>
              <a:t>Code corpus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4142B"/>
                </a:solidFill>
                <a:latin typeface="Calibri"/>
              </a:rPr>
              <a:t>“title: none | text: ” prompt, embedded and indexed once (offline)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Demo &amp; Product Walkthrough</a:t>
            </a:r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838504" y="1371600"/>
            <a:ext cx="4480560" cy="393192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67104" y="1536192"/>
            <a:ext cx="40233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Command-line demo (demo.py)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Input: </a:t>
            </a:r>
            <a:r>
              <a:rPr sz="1500" b="0">
                <a:solidFill>
                  <a:srgbClr val="14142B"/>
                </a:solidFill>
                <a:latin typeface="Calibri"/>
              </a:rPr>
              <a:t>a natural-language query.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Output: </a:t>
            </a:r>
            <a:r>
              <a:rPr sz="1500" b="0">
                <a:solidFill>
                  <a:srgbClr val="14142B"/>
                </a:solidFill>
                <a:latin typeface="Calibri"/>
              </a:rPr>
              <a:t>ranked snippets with rank, cosine score, document ID, title and code.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Corpus: </a:t>
            </a:r>
            <a:r>
              <a:rPr sz="1500" b="0">
                <a:solidFill>
                  <a:srgbClr val="14142B"/>
                </a:solidFill>
                <a:latin typeface="Calibri"/>
              </a:rPr>
              <a:t>15 curated algorithms (searching, sorting, graph traversal, dynamic programming).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Runs locally on CPU; </a:t>
            </a:r>
            <a:r>
              <a:rPr sz="1500" b="0">
                <a:solidFill>
                  <a:srgbClr val="14142B"/>
                </a:solidFill>
                <a:latin typeface="Calibri"/>
              </a:rPr>
              <a:t>no cloud API calls once model weights are cached.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500" b="1">
                <a:solidFill>
                  <a:srgbClr val="14142B"/>
                </a:solidFill>
                <a:latin typeface="Calibri"/>
              </a:rPr>
              <a:t>Latency: </a:t>
            </a:r>
            <a:r>
              <a:rPr sz="1500" b="0">
                <a:solidFill>
                  <a:srgbClr val="14142B"/>
                </a:solidFill>
                <a:latin typeface="Calibri"/>
              </a:rPr>
              <a:t>search time is printed; about 90–140 ms per query on this corpus.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23560" y="1371600"/>
            <a:ext cx="5733288" cy="3931920"/>
          </a:xfrm>
          <a:prstGeom prst="roundRect">
            <a:avLst>
              <a:gd name="adj" fmla="val 4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t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A7F3D0"/>
                </a:solidFill>
                <a:latin typeface="Courier New"/>
              </a:rPr>
              <a:t>$ python demo.py --query "binary search on sorted array" --top-k 3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Loaded 15 code documents. Indexing corpus...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DE68A"/>
                </a:solidFill>
                <a:latin typeface="Courier New"/>
              </a:rPr>
              <a:t>[Search Completed in 94.62 ms on CPU]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3C5FD"/>
                </a:solidFill>
                <a:latin typeface="Courier New"/>
              </a:rPr>
              <a:t>[Rank 1] Score: 0.6318 | doc_binary_search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Title: Binary Search on Sorted Array (Algorithms/Searching)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def binary_search(arr: list[int], target: int) -&gt; int: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    low, high = 0, len(arr) - 1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    while low &lt;= high: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        mid = (low + high) // 2 ... return mid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5E7EB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3C5FD"/>
                </a:solidFill>
                <a:latin typeface="Courier New"/>
              </a:rPr>
              <a:t>[Rank 2] Score: 0.3120 | doc_quick_select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3C5FD"/>
                </a:solidFill>
                <a:latin typeface="Courier New"/>
              </a:rPr>
              <a:t>[Rank 3] Score: 0.2845 | doc_merge_sort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23560" y="5440680"/>
            <a:ext cx="5733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637E"/>
                </a:solidFill>
                <a:latin typeface="Calibri"/>
              </a:rPr>
              <a:t>Output on the 15-document demo corpus, CPU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Tools &amp; Tech Stack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838504" y="137160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67104" y="1536192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Embedding inference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sentence-transformers 6.1.0: model wrapper and batch embedding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transformers 4.57.6 and torch 2.14.0 (CPU), 10 intra-op threads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33464" y="137160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462064" y="1536192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Evaluation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mteb 2.21.6: official harness for the AppsRetrieval task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datasets 5.0.1: loads the CoIR benchmark test split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38504" y="356616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067104" y="3730752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Vector indexing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faiss-cpu 1.15.1: exact IndexFlatIP search over L2-normalized vectors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numpy 2.2.6: array handling and metric computation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233464" y="356616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62064" y="3730752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Quality &amp; deployment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pytest 9.1.1: 9 automated tests, all passing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Docker (python:3.10-slim): multi-stage container for reproducibility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838504" y="137160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067104" y="1536192"/>
            <a:ext cx="28346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Use case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Code retrieval is the first step for AI coding assistants: locating relevant code from a plain-language description.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Fits IDE assistants and code-review tools.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450384" y="137160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678984" y="1536192"/>
            <a:ext cx="28346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CPU-friendly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Runs on CPU with no cloud API calls at query time.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Demo query latency is about 90–140 ms on the 15-document corpus.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062264" y="137160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290864" y="1536192"/>
            <a:ext cx="28346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Easy to integrate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Follows the MTEB AbsEncoder interface.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Modular pipeline: prompt formatting, embedding, then indexing.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38504" y="50292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shipped system is the retrieval component only; it does not generate answers or plan multi-step agent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Innovation, Results &amp;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838504" y="1371600"/>
            <a:ext cx="4754880" cy="210312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67104" y="1536192"/>
            <a:ext cx="4297680" cy="182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Innovation highlights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0">
                <a:solidFill>
                  <a:srgbClr val="14142B"/>
                </a:solidFill>
                <a:latin typeface="Calibri"/>
              </a:rPr>
              <a:t>Controlled model comparison on 200 validation queries before the full test run.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0">
                <a:solidFill>
                  <a:srgbClr val="14142B"/>
                </a:solidFill>
                <a:latin typeface="Calibri"/>
              </a:rPr>
              <a:t>Task-specific query and code prompts.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0">
                <a:solidFill>
                  <a:srgbClr val="14142B"/>
                </a:solidFill>
                <a:latin typeface="Calibri"/>
              </a:rPr>
              <a:t>Model-access fallback for reliable runs.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38504" y="3657600"/>
            <a:ext cx="4754880" cy="233172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67104" y="3822191"/>
            <a:ext cx="429768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Limitations (P0 scope)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0">
                <a:solidFill>
                  <a:srgbClr val="14142B"/>
                </a:solidFill>
                <a:latin typeface="Calibri"/>
              </a:rPr>
              <a:t>Dense retrieval only: no answer generation or multi-step agent reasoning.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0">
                <a:solidFill>
                  <a:srgbClr val="14142B"/>
                </a:solidFill>
                <a:latin typeface="Calibri"/>
              </a:rPr>
              <a:t>512-token cap truncates long source files.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400" b="0">
                <a:solidFill>
                  <a:srgbClr val="14142B"/>
                </a:solidFill>
                <a:latin typeface="Calibri"/>
              </a:rPr>
              <a:t>Pure dense retrieval can miss rare identifier names.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52160" y="137160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Measured official test results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637E"/>
                </a:solidFill>
                <a:latin typeface="Calibri"/>
              </a:rPr>
              <a:t>MTEB AppsRetrieval, CoIR Apps test split (3,765 queries, 8,765 documents)</a:t>
            </a: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852160" y="2103120"/>
          <a:ext cx="5504688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Experiment 0 baseline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(E5-base-v2)</a:t>
                      </a:r>
                    </a:p>
                  </a:txBody>
                  <a:tcPr marL="54864" marR="54864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Final P0 engine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(EmbeddingGemma-300M)</a:t>
                      </a:r>
                    </a:p>
                  </a:txBody>
                  <a:tcPr marL="54864" marR="54864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Gain</a:t>
                      </a:r>
                    </a:p>
                  </a:txBody>
                  <a:tcPr marL="54864" marR="54864" anchor="ctr"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0.11523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0.80492</a:t>
                      </a:r>
                    </a:p>
                  </a:txBody>
                  <a:tcPr marL="54864" marR="54864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+598.5% (7.0×)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0.09878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0.77097</a:t>
                      </a:r>
                    </a:p>
                  </a:txBody>
                  <a:tcPr marL="54864" marR="54864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+680.5% (7.8×)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Recall@10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0.16919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0.91049</a:t>
                      </a:r>
                    </a:p>
                  </a:txBody>
                  <a:tcPr marL="54864" marR="54864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+438.1% (5.4×)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Recall@100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0.34343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0.98114</a:t>
                      </a:r>
                    </a:p>
                  </a:txBody>
                  <a:tcPr marL="54864" marR="54864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+185.7% (2.9×)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Recall@1000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0.68127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4142B"/>
                          </a:solidFill>
                          <a:latin typeface="Calibri"/>
                        </a:rPr>
                        <a:t>0.99655</a:t>
                      </a:r>
                    </a:p>
                  </a:txBody>
                  <a:tcPr marL="54864" marR="54864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2B"/>
                          </a:solidFill>
                          <a:latin typeface="Calibri"/>
                        </a:rPr>
                        <a:t>+46.3%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5852160" y="5440680"/>
            <a:ext cx="55046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637E"/>
                </a:solidFill>
                <a:latin typeface="Calibri"/>
              </a:rPr>
              <a:t>Baseline and final engine were evaluated on the same full test split. The full CPU test evaluation took 112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What’s Next: Future Work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838504" y="13258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Future Work only: none of these items is implemented in the shipped P0 system.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38504" y="1965960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1067104" y="2240279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alibri"/>
              </a:rPr>
              <a:t>FUTURE WORK · P1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941624" y="20574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AST-aware code chunking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42B"/>
                </a:solidFill>
                <a:latin typeface="Calibri"/>
              </a:rPr>
              <a:t>Split source files at function, method and class boundaries (e.g. with Tree-sitter) instead of fixed token cuts, so long files are not truncated.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38504" y="2990088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1067104" y="3264408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alibri"/>
              </a:rPr>
              <a:t>FUTURE WORK · P1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941624" y="308152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Hybrid sparse + dense retrieval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42B"/>
                </a:solidFill>
                <a:latin typeface="Calibri"/>
              </a:rPr>
              <a:t>Combine BM25 keyword matching with dense embeddings using Reciprocal Rank Fusion (RRF) to catch rare identifier names.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38504" y="4014216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1067104" y="4288536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alibri"/>
              </a:rPr>
              <a:t>FUTURE WORK · P1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941624" y="4105656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Multi-version repository indexing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42B"/>
                </a:solidFill>
                <a:latin typeface="Calibri"/>
              </a:rPr>
              <a:t>Re-index only the files changed in each Git commit instead of rebuilding the whole index.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38504" y="5038344"/>
            <a:ext cx="10515600" cy="896112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1067104" y="5312664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alibri"/>
              </a:rPr>
              <a:t>FUTURE WORK · P2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941624" y="5129783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D28D9"/>
                </a:solidFill>
                <a:latin typeface="Calibri"/>
              </a:rPr>
              <a:t>Agentic multi-hop retrieval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142B"/>
                </a:solidFill>
                <a:latin typeface="Calibri"/>
              </a:rPr>
              <a:t>Refine the query iteratively based on intermediate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Differentiation (Brownie Points)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838504" y="137160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67104" y="1536192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Verified accuracy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NDCG@10 rose from 0.11523 (Experiment 0) to 0.80492, a gain of +0.68969.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Measured on the full CoIR Apps test split.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233464" y="137160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6462064" y="1536192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Transparent scope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Every metric comes from a real CPU run.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Shipped system is strictly P0 dense retrieval; the roadmap is labelled Future Work.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38504" y="379476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1067104" y="3959352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Reproducible and tested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CLI demo on a fixed 15-document corpus.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9/9 automated tests passing; Docker definition included.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233464" y="379476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462064" y="3959352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6D28D9"/>
                </a:solidFill>
                <a:latin typeface="Calibri"/>
              </a:rPr>
              <a:t>Focused on P0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6D28D9"/>
              </a:buClr>
              <a:buFont typeface="Arial"/>
              <a:buChar char="•"/>
            </a:pPr>
            <a:r>
              <a:rPr sz="1600" b="0">
                <a:solidFill>
                  <a:srgbClr val="14142B"/>
                </a:solidFill>
                <a:latin typeface="Calibri"/>
              </a:rPr>
              <a:t>All effort went into retrieval accuracy, the top-priority goal in the Theme 01 brief.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504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3000" b="1">
                <a:solidFill>
                  <a:srgbClr val="704EA6"/>
                </a:solidFill>
                <a:latin typeface="Calibri"/>
              </a:rPr>
              <a:t>Checklist: Updated on Public GitHub</a:t>
            </a:r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38504" y="1097280"/>
            <a:ext cx="10515600" cy="27432"/>
          </a:xfrm>
          <a:prstGeom prst="rect">
            <a:avLst/>
          </a:prstGeom>
          <a:solidFill>
            <a:srgbClr val="D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838504" y="137160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1112824" y="1673352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667304" y="146304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4142B"/>
                </a:solidFill>
                <a:latin typeface="Calibri"/>
              </a:rPr>
              <a:t>Working prototype code (public GitHub repo)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37E"/>
                </a:solidFill>
                <a:latin typeface="Calibri"/>
              </a:rPr>
              <a:t>https://github.com/Mithun-Newt/agentic_code_intelligence.git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38504" y="2542032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1112824" y="2843784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667304" y="2633472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4142B"/>
                </a:solidFill>
                <a:latin typeface="Calibri"/>
              </a:rPr>
              <a:t>README with reproducible setup instructions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37E"/>
                </a:solidFill>
                <a:latin typeface="Calibri"/>
              </a:rPr>
              <a:t>Installation, CLI demo and MTEB evaluation commands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38504" y="3712464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1112824" y="4014216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/>
              <a:t>YES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667304" y="3803904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b="1"/>
              <a:t>Demo video (max 5 minutes)</a:t>
            </a:r>
          </a:p>
          <a:p>
            <a:r>
              <a:t>https://drive.google.com/file/d/1ygrzH9wNctm0r5rT4pi3kkJrUA_bPuJz/view?usp=sharing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38504" y="4882896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F5F2FC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1112824" y="5184648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667304" y="4974336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4142B"/>
                </a:solidFill>
                <a:latin typeface="Calibri"/>
              </a:rPr>
              <a:t>Presentation file (PPT or PDF)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637E"/>
                </a:solidFill>
                <a:latin typeface="Calibri"/>
              </a:rPr>
              <a:t>submission/CodeNexus_PRISM_Theme01_Final.pptx and .pdf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6073" y="4526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637E"/>
                </a:solidFill>
                <a:latin typeface="Calibri"/>
              </a:rPr>
              <a:t>CodeNexus  ·  Vellore Institute of Technology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46073" y="4937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D28D9"/>
                </a:solidFill>
                <a:latin typeface="Calibri"/>
              </a:rPr>
              <a:t>https://github.com/Mithun-Newt/agentic_code_intelligence.git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Theme: Agentic Code Intelligence</vt:lpstr>
      <vt:lpstr>Existing Solutions &amp; Gaps</vt:lpstr>
      <vt:lpstr>Our Solution &amp; Architecture</vt:lpstr>
      <vt:lpstr>Demo &amp; Product Walkthrough</vt:lpstr>
      <vt:lpstr>Tools &amp; Tech Stack</vt:lpstr>
      <vt:lpstr>Impact &amp; Use Case</vt:lpstr>
      <vt:lpstr>Innovation, Results &amp; Limitations</vt:lpstr>
      <vt:lpstr>What’s Next: Future Work</vt:lpstr>
      <vt:lpstr>Differentiation (Brownie Points)</vt:lpstr>
      <vt:lpstr>Checklist: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Mithun Venkatesan</cp:lastModifiedBy>
  <cp:revision>1</cp:revision>
  <dcterms:created xsi:type="dcterms:W3CDTF">2026-09-07T12:01:01Z</dcterms:created>
  <dcterms:modified xsi:type="dcterms:W3CDTF">2026-09-29T19:53:50Z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