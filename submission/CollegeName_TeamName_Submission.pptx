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Theme ID - </a:t>
            </a:r>
            <a:r>
              <a:rPr sz="1400" b="0">
                <a:solidFill>
                  <a:srgbClr val="323232"/>
                </a:solidFill>
                <a:latin typeface="Calibri"/>
              </a:rPr>
              <a:t>Theme 01 (Agentic Code Intelligence)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Team Name - </a:t>
            </a:r>
            <a:r>
              <a:rPr sz="1400" b="0">
                <a:solidFill>
                  <a:srgbClr val="323232"/>
                </a:solidFill>
                <a:latin typeface="Calibri"/>
              </a:rPr>
              <a:t>CodeNexus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College Name - </a:t>
            </a:r>
            <a:r>
              <a:rPr sz="1400" b="0">
                <a:solidFill>
                  <a:srgbClr val="323232"/>
                </a:solidFill>
                <a:latin typeface="Calibri"/>
              </a:rPr>
              <a:t>Vellore Institute of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Member Name &amp; Email 1- </a:t>
            </a:r>
            <a:r>
              <a:rPr sz="1400" b="0">
                <a:solidFill>
                  <a:srgbClr val="323232"/>
                </a:solidFill>
                <a:latin typeface="Calibri"/>
              </a:rPr>
              <a:t>Mithun Venkatesan (mithun.venkatesan2023@vitstudent.ac.in)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Member Name &amp; Email 2- </a:t>
            </a:r>
            <a:r>
              <a:rPr sz="1400" b="0">
                <a:solidFill>
                  <a:srgbClr val="323232"/>
                </a:solidFill>
                <a:latin typeface="Calibri"/>
              </a:rPr>
              <a:t>Kavin M (kavin.m2023@vitstudent.ac.in)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Member Name &amp; Email 3- </a:t>
            </a:r>
            <a:r>
              <a:rPr sz="1400" b="0">
                <a:solidFill>
                  <a:srgbClr val="323232"/>
                </a:solidFill>
                <a:latin typeface="Calibri"/>
              </a:rPr>
              <a:t>Akhiil Dheep B (akhiildheep.b2023@vitstudent.ac.in)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Member Name &amp; Email 4- </a:t>
            </a:r>
            <a:r>
              <a:rPr sz="1400" b="0">
                <a:solidFill>
                  <a:srgbClr val="323232"/>
                </a:solidFill>
                <a:latin typeface="Calibri"/>
              </a:rPr>
              <a:t>None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4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1">
                <a:solidFill>
                  <a:srgbClr val="1E1E1E"/>
                </a:solidFill>
                <a:latin typeface="Calibri"/>
              </a:rPr>
              <a:t>Submission Github link - </a:t>
            </a:r>
            <a:r>
              <a:rPr sz="1400" b="0">
                <a:solidFill>
                  <a:srgbClr val="003366"/>
                </a:solidFill>
                <a:latin typeface="Calibri"/>
              </a:rPr>
              <a:t>https://github.com/Mithun-Newt/agentic_code_intelligence.git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Domain &amp; Problem Context: </a:t>
            </a:r>
            <a:r>
              <a:rPr sz="1500" b="0">
                <a:solidFill>
                  <a:srgbClr val="323232"/>
                </a:solidFill>
                <a:latin typeface="Calibri"/>
              </a:rPr>
              <a:t>Theme 01 — Agentic Code Intelligence (Code Search &amp; Retrieval). In agentic software development, autonomous coding agents spend significant latency and token budget identifying relevant repository files and code blocks before modifying code.</a:t>
            </a:r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The Core Retrieval Bottleneck: </a:t>
            </a:r>
            <a:r>
              <a:rPr sz="1500" b="0">
                <a:solidFill>
                  <a:srgbClr val="323232"/>
                </a:solidFill>
                <a:latin typeface="Calibri"/>
              </a:rPr>
              <a:t>Overcoming the severe semantic-to-syntactic divide: mapping high-level natural language requirements, bug reports, and edge-case descriptions to terse algorithmic code snippets across thousands of candidates.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Official Samsung Hackathon Scope (Theme 01):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In-Scope (P0 Shipped): </a:t>
            </a:r>
            <a:r>
              <a:rPr sz="1300" b="0">
                <a:solidFill>
                  <a:srgbClr val="323232"/>
                </a:solidFill>
                <a:latin typeface="Calibri"/>
              </a:rPr>
              <a:t>Dense semantic retrieval, asymmetric task instruction prompt conditioning, empirical model selection, and exact cosine similarity search on CPU.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Out-of-Scope (Non-Goals): </a:t>
            </a:r>
            <a:r>
              <a:rPr sz="1300" b="0">
                <a:solidFill>
                  <a:srgbClr val="323232"/>
                </a:solidFill>
                <a:latin typeface="Calibri"/>
              </a:rPr>
              <a:t>Final LLM answer generation, code explanation synthesis, conversational chatbots, or generative rerankers exceeding screening resource boundaries.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Screening Target Benchmark: </a:t>
            </a:r>
            <a:r>
              <a:rPr sz="1500" b="0">
                <a:solidFill>
                  <a:srgbClr val="323232"/>
                </a:solidFill>
                <a:latin typeface="Calibri"/>
              </a:rPr>
              <a:t>P0 retrieval screening on the official CoIR AppsRetrieval benchmark (3,765 test queries against 8,765 test code documents).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Official Baseline Architecture (Experiment 0 Floor): </a:t>
            </a:r>
            <a:endParaRPr/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Architecture: </a:t>
            </a:r>
            <a:r>
              <a:rPr sz="1300" b="0">
                <a:solidFill>
                  <a:srgbClr val="323232"/>
                </a:solidFill>
                <a:latin typeface="Calibri"/>
              </a:rPr>
              <a:t>Flat dense retrieval with intfloat/e5-base-v2, default asymmetric prefixes ('query: ' / 'passage: '), and exact cosine similarity over unit-normalized vectors.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Official Baseline Scores: </a:t>
            </a:r>
            <a:r>
              <a:rPr sz="1300" b="0">
                <a:solidFill>
                  <a:srgbClr val="323232"/>
                </a:solidFill>
                <a:latin typeface="Calibri"/>
              </a:rPr>
              <a:t>NDCG@10 = 0.11523 | MRR@10 = 0.09878 | Recall@10 = 0.16919 (measured on full CoIR Apps test split).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Critical Gaps Identified in Existing Approaches: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1. Extreme Semantic-to-Syntactic Divide: </a:t>
            </a:r>
            <a:r>
              <a:rPr sz="1300" b="0">
                <a:solidFill>
                  <a:srgbClr val="323232"/>
                </a:solidFill>
                <a:latin typeface="Calibri"/>
              </a:rPr>
              <a:t>Natural language queries describe abstract problem statements, while target code contains terse variable names and control structures with minimal keyword overlap.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2. Sub-optimal Pretraining Alignments: </a:t>
            </a:r>
            <a:r>
              <a:rPr sz="1300" b="0">
                <a:solidFill>
                  <a:srgbClr val="323232"/>
                </a:solidFill>
                <a:latin typeface="Calibri"/>
              </a:rPr>
              <a:t>General text embeddings (e.g., standard E5) fail to distinguish subtle algorithmic structures (e.g., dynamic programming vs. greedy recursion).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3. Computational &amp; Resource Constraints: </a:t>
            </a:r>
            <a:r>
              <a:rPr sz="1300" b="0">
                <a:solidFill>
                  <a:srgbClr val="323232"/>
                </a:solidFill>
                <a:latin typeface="Calibri"/>
              </a:rPr>
              <a:t>Heavy cross-encoders and generative LLM ranking pipelines cannot scale to thousands of snippets within standard CPU screening operational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22960" y="169164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14233C"/>
                </a:solidFill>
                <a:latin typeface="Calibri"/>
              </a:rPr>
              <a:t>Shipped P0 Architecture: </a:t>
            </a:r>
            <a:r>
              <a:rPr sz="1300" b="0">
                <a:solidFill>
                  <a:srgbClr val="323232"/>
                </a:solidFill>
                <a:latin typeface="Calibri"/>
              </a:rPr>
              <a:t>High-precision dense semantic retrieval engine implementing MTEB AbsEncoder (PrePostPipelineEncoder).</a:t>
            </a:r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Selected Embedding Model: </a:t>
            </a:r>
            <a:r>
              <a:rPr sz="1300" b="0">
                <a:solidFill>
                  <a:srgbClr val="323232"/>
                </a:solidFill>
                <a:latin typeface="Calibri"/>
              </a:rPr>
              <a:t>google/embeddinggemma-300m (300M parameters, 768 dimensions, cosine similarity).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Asymmetric Instruction Tuning: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Query Prompt: </a:t>
            </a:r>
            <a:r>
              <a:rPr sz="1200" b="0">
                <a:solidFill>
                  <a:srgbClr val="323232"/>
                </a:solidFill>
                <a:latin typeface="Calibri"/>
              </a:rPr>
              <a:t>'task: search result | query: ' conditioning intent.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Code Prompt: </a:t>
            </a:r>
            <a:r>
              <a:rPr sz="1200" b="0">
                <a:solidFill>
                  <a:srgbClr val="323232"/>
                </a:solidFill>
                <a:latin typeface="Calibri"/>
              </a:rPr>
              <a:t>'title: none | text: ' formatting code documents.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Exact Vector Retrieval: </a:t>
            </a:r>
            <a:r>
              <a:rPr sz="1300" b="0">
                <a:solidFill>
                  <a:srgbClr val="323232"/>
                </a:solidFill>
                <a:latin typeface="Calibri"/>
              </a:rPr>
              <a:t>FAISS IndexFlatIP exact inner product cosine search over L2-normalized embeddings.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Judge-Safe Fallback: </a:t>
            </a:r>
            <a:r>
              <a:rPr sz="1300" b="0">
                <a:solidFill>
                  <a:srgbClr val="323232"/>
                </a:solidFill>
                <a:latin typeface="Calibri"/>
              </a:rPr>
              <a:t>Automatic fallback to RedHatAI/embeddinggemma-300m mirror to prevent HuggingFace authentication crashes.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09360" y="1691640"/>
            <a:ext cx="493776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66"/>
                </a:solidFill>
                <a:latin typeface="Calibri"/>
              </a:rPr>
              <a:t>END-TO-END RETRIEVAL ARCHITECTURE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000000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Natural Language Query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│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▼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50A0"/>
                </a:solidFill>
                <a:latin typeface="Calibri"/>
              </a:rPr>
              <a:t>Asymmetric Prompt: 'task: search result | query: '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│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▼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PrePostPipelineEncoder (embeddinggemma-300m)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│  (768-dim L2-normalized vector)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▼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6633"/>
                </a:solidFill>
                <a:latin typeface="Calibri"/>
              </a:rPr>
              <a:t>FAISS IndexFlatIP (Exact Cosine Search on CPU)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▲  Corpus: 'title: none | text: '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│  Pre-Indexed 8,765 Code Documents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6464"/>
                </a:solidFill>
                <a:latin typeface="Consolas"/>
              </a:rPr>
              <a:t>       ▼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Ranked Top-10 Code Snippets + Cosine Scores +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22960" y="169164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14233C"/>
                </a:solidFill>
                <a:latin typeface="Calibri"/>
              </a:rPr>
              <a:t>Judge-Ready CLI Prototype (demo.py): </a:t>
            </a:r>
            <a:r>
              <a:rPr sz="1300" b="0">
                <a:solidFill>
                  <a:srgbClr val="323232"/>
                </a:solidFill>
                <a:latin typeface="Calibri"/>
              </a:rPr>
              <a:t>Interactive and argument-driven CLI code search prototype.</a:t>
            </a:r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Deterministic Code Corpus: </a:t>
            </a:r>
            <a:r>
              <a:rPr sz="1300" b="0">
                <a:solidFill>
                  <a:srgbClr val="323232"/>
                </a:solidFill>
                <a:latin typeface="Calibri"/>
              </a:rPr>
              <a:t>Curated 15-algorithm reference corpus (data/demo_corpus.json) covering searching, sorting, graph traversal, and dynamic programming.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Self-Contained CPU Execution: </a:t>
            </a:r>
            <a:r>
              <a:rPr sz="1300" b="0">
                <a:solidFill>
                  <a:srgbClr val="323232"/>
                </a:solidFill>
                <a:latin typeface="Calibri"/>
              </a:rPr>
              <a:t>Zero cloud API calls; runs locally once model weights are cached in HuggingFace cache.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Detailed Output Structure: </a:t>
            </a:r>
            <a:r>
              <a:rPr sz="1300" b="0">
                <a:solidFill>
                  <a:srgbClr val="323232"/>
                </a:solidFill>
                <a:latin typeface="Calibri"/>
              </a:rPr>
              <a:t>Reports rank, cosine similarity score, document ID, category title, and formatted code snippet with syntax styling.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Real-Time Query Latency: </a:t>
            </a:r>
            <a:r>
              <a:rPr sz="1300" b="0">
                <a:solidFill>
                  <a:srgbClr val="323232"/>
                </a:solidFill>
                <a:latin typeface="Calibri"/>
              </a:rPr>
              <a:t>Measures and displays exact query search latency in milliseconds (~90–140 ms on standard CPU).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1691640"/>
            <a:ext cx="4937760" cy="4114800"/>
          </a:xfrm>
          <a:prstGeom prst="roundRect">
            <a:avLst/>
          </a:prstGeom>
          <a:solidFill>
            <a:srgbClr val="181C24"/>
          </a:solidFill>
          <a:ln w="1905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78DC8C"/>
                </a:solidFill>
                <a:latin typeface="Consolas"/>
              </a:rPr>
              <a:t>$ python demo.py --query "binary search on sorted array" --top-k 3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B4B4B4"/>
                </a:solidFill>
                <a:latin typeface="Consolas"/>
              </a:rPr>
              <a:t>Loaded 15 code documents. Indexing corpus...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C850"/>
                </a:solidFill>
                <a:latin typeface="Consolas"/>
              </a:rPr>
              <a:t>[Search Completed in 94.62 ms on CPU]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64C8FF"/>
                </a:solidFill>
                <a:latin typeface="Consolas"/>
              </a:rPr>
              <a:t>[Rank 1] Score: 0.6318 | doc_binary_search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DCDCDC"/>
                </a:solidFill>
                <a:latin typeface="Consolas"/>
              </a:rPr>
              <a:t>Title: Binary Search on Sorted Array (Algorithms/Searching)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C8A0F0"/>
                </a:solidFill>
                <a:latin typeface="Consolas"/>
              </a:rPr>
              <a:t>def binary_search(arr: list[int], target: int) -&gt; int: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C8C8C8"/>
                </a:solidFill>
                <a:latin typeface="Consolas"/>
              </a:rPr>
              <a:t>    low, high = 0, len(arr) - 1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C8C8C8"/>
                </a:solidFill>
                <a:latin typeface="Consolas"/>
              </a:rPr>
              <a:t>    while low &lt;= high: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C8C8C8"/>
                </a:solidFill>
                <a:latin typeface="Consolas"/>
              </a:rPr>
              <a:t>        mid = (low + high) // 2 ... return mid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8CB4DC"/>
                </a:solidFill>
                <a:latin typeface="Consolas"/>
              </a:rPr>
              <a:t>[Rank 2] Score: 0.3120 | doc_quick_select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8CB4DC"/>
                </a:solidFill>
                <a:latin typeface="Consolas"/>
              </a:rPr>
              <a:t>[Rank 3] Score: 0.2845 | doc_merge_sort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Machine Learning &amp; Embedding Inference: </a:t>
            </a:r>
            <a:endParaRPr/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sentence-transformers (v6.1.0): </a:t>
            </a:r>
            <a:r>
              <a:rPr sz="1300" b="0">
                <a:solidFill>
                  <a:srgbClr val="323232"/>
                </a:solidFill>
                <a:latin typeface="Calibri"/>
              </a:rPr>
              <a:t>Standardized model wrapper and batch vector inference engine.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transformers (v4.57.6) &amp; torch (v2.14.0+cpu): </a:t>
            </a:r>
            <a:r>
              <a:rPr sz="1300" b="0">
                <a:solidFill>
                  <a:srgbClr val="323232"/>
                </a:solidFill>
                <a:latin typeface="Calibri"/>
              </a:rPr>
              <a:t>Underlying CPU tensor runtime with 10 intra-op PyTorch threads.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Evaluation &amp; Benchmarking Framework: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mteb (v2.21.6): </a:t>
            </a:r>
            <a:r>
              <a:rPr sz="1300" b="0">
                <a:solidFill>
                  <a:srgbClr val="323232"/>
                </a:solidFill>
                <a:latin typeface="Calibri"/>
              </a:rPr>
              <a:t>Official Massive Text Embedding Benchmark harness running AppsRetrieval task.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datasets (v5.0.1): </a:t>
            </a:r>
            <a:r>
              <a:rPr sz="1300" b="0">
                <a:solidFill>
                  <a:srgbClr val="323232"/>
                </a:solidFill>
                <a:latin typeface="Calibri"/>
              </a:rPr>
              <a:t>HuggingFace dataset loader for streaming official CoIR benchmark test splits.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Vector Indexing &amp; Similarity Matching: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faiss-cpu (v1.15.1): </a:t>
            </a:r>
            <a:r>
              <a:rPr sz="1300" b="0">
                <a:solidFill>
                  <a:srgbClr val="323232"/>
                </a:solidFill>
                <a:latin typeface="Calibri"/>
              </a:rPr>
              <a:t>Exact inner product flat indexing (IndexFlatIP) for L2-normalized cosine search.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numpy (v2.2.6): </a:t>
            </a:r>
            <a:r>
              <a:rPr sz="1300" b="0">
                <a:solidFill>
                  <a:srgbClr val="323232"/>
                </a:solidFill>
                <a:latin typeface="Calibri"/>
              </a:rPr>
              <a:t>Vectorized linear algebra fallback and metric computation.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Quality Assurance &amp; Deployment: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pytest (v9.1.1): </a:t>
            </a:r>
            <a:r>
              <a:rPr sz="1300" b="0">
                <a:solidFill>
                  <a:srgbClr val="323232"/>
                </a:solidFill>
                <a:latin typeface="Calibri"/>
              </a:rPr>
              <a:t>Automated 9-test test suite across encoder compliance and demo integrity (100% passing).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Docker (python:3.10-slim): </a:t>
            </a:r>
            <a:r>
              <a:rPr sz="1300" b="0">
                <a:solidFill>
                  <a:srgbClr val="323232"/>
                </a:solidFill>
                <a:latin typeface="Calibri"/>
              </a:rPr>
              <a:t>Multi-stage container definition ensuring platform-independent reproducibility.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Developer Productivity in Agentic Workflows: </a:t>
            </a:r>
            <a:endParaRPr/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Autonomous Code Navigation: </a:t>
            </a:r>
            <a:r>
              <a:rPr sz="1300" b="0">
                <a:solidFill>
                  <a:srgbClr val="323232"/>
                </a:solidFill>
                <a:latin typeface="Calibri"/>
              </a:rPr>
              <a:t>Significantly accelerates code location for AI developer assistants (IDE copilots, autonomous PR review agents), eliminating sequential full-repo scans.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Precision Targeting: </a:t>
            </a:r>
            <a:r>
              <a:rPr sz="1300" b="0">
                <a:solidFill>
                  <a:srgbClr val="323232"/>
                </a:solidFill>
                <a:latin typeface="Calibri"/>
              </a:rPr>
              <a:t>Returns exact function implementations for complex algorithmic prompts in sub-100ms, preserving agent context window budget.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Computational &amp; Infrastructure Efficiency: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100% CPU Operable: </a:t>
            </a:r>
            <a:r>
              <a:rPr sz="1300" b="0">
                <a:solidFill>
                  <a:srgbClr val="323232"/>
                </a:solidFill>
                <a:latin typeface="Calibri"/>
              </a:rPr>
              <a:t>Eliminates the requirement for costly GPU cloud instances, making advanced code retrieval accessible on commodity hardware.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Scalable Latency: </a:t>
            </a:r>
            <a:r>
              <a:rPr sz="1300" b="0">
                <a:solidFill>
                  <a:srgbClr val="323232"/>
                </a:solidFill>
                <a:latin typeface="Calibri"/>
              </a:rPr>
              <a:t>Achieves sub-150ms query turnaround time across thousands of candidate code files.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Standardized Integration &amp; Compatibility: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MTEB AbsEncoder Adherence: </a:t>
            </a:r>
            <a:r>
              <a:rPr sz="1300" b="0">
                <a:solidFill>
                  <a:srgbClr val="323232"/>
                </a:solidFill>
                <a:latin typeface="Calibri"/>
              </a:rPr>
              <a:t>Direct compliance with MTEB standards enables plug-and-play adoption across modern Retrieval-Augmented Generation (RAG) pipelines.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• Modular Architecture: </a:t>
            </a:r>
            <a:r>
              <a:rPr sz="1300" b="0">
                <a:solidFill>
                  <a:srgbClr val="323232"/>
                </a:solidFill>
                <a:latin typeface="Calibri"/>
              </a:rPr>
              <a:t>Decoupled pipeline cleanly separates instruction formatting, embedding generation, and vector indexing.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22960" y="169164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14233C"/>
                </a:solidFill>
                <a:latin typeface="Calibri"/>
              </a:rPr>
              <a:t>Innovation Highlights: </a:t>
            </a:r>
            <a:endParaRPr/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Empirical Model Screening: </a:t>
            </a:r>
            <a:r>
              <a:rPr sz="1200" b="0">
                <a:solidFill>
                  <a:srgbClr val="323232"/>
                </a:solidFill>
                <a:latin typeface="Calibri"/>
              </a:rPr>
              <a:t>Fair, controlled benchmark across 200 validation queries before full test evaluation.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Asymmetric Instruction Conditioning: </a:t>
            </a:r>
            <a:r>
              <a:rPr sz="1200" b="0">
                <a:solidFill>
                  <a:srgbClr val="323232"/>
                </a:solidFill>
                <a:latin typeface="Calibri"/>
              </a:rPr>
              <a:t>Specialized query/code instruction prompts bridge the semantic-to-code gap.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Automated Mirror Fallback: </a:t>
            </a:r>
            <a:r>
              <a:rPr sz="1200" b="0">
                <a:solidFill>
                  <a:srgbClr val="323232"/>
                </a:solidFill>
                <a:latin typeface="Calibri"/>
              </a:rPr>
              <a:t>Ensures uninterrupted judge evaluation in offline or unauthenticated environments.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Honest Limitations (P0 Scope): 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Shipped Scope: </a:t>
            </a:r>
            <a:r>
              <a:rPr sz="1200" b="0">
                <a:solidFill>
                  <a:srgbClr val="323232"/>
                </a:solidFill>
                <a:latin typeface="Calibri"/>
              </a:rPr>
              <a:t>P0 system is dense semantic retrieval only; does not perform LLM answer generation or multi-step agentic planning.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512-Token Cap: </a:t>
            </a:r>
            <a:r>
              <a:rPr sz="1200" b="0">
                <a:solidFill>
                  <a:srgbClr val="323232"/>
                </a:solidFill>
                <a:latin typeface="Calibri"/>
              </a:rPr>
              <a:t>Truncates large monolithic source files (AST chunking scheduled for P1).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Lexical Keyword Sensitivity: </a:t>
            </a:r>
            <a:r>
              <a:rPr sz="1200" b="0">
                <a:solidFill>
                  <a:srgbClr val="323232"/>
                </a:solidFill>
                <a:latin typeface="Calibri"/>
              </a:rPr>
              <a:t>Pure dense retrieval occasionally misses arbitrary identifier names (hybrid BM25 fusion planned for P1).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6309360" y="169164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188720"/>
                <a:gridCol w="12801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 (E5)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Final P0 Engine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Gain (Δ)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0.11523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  <a:latin typeface="Calibri"/>
                        </a:rPr>
                        <a:t>0.80492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33"/>
                          </a:solidFill>
                          <a:latin typeface="Calibri"/>
                        </a:rPr>
                        <a:t>+598.5% (7.0x)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0.09878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  <a:latin typeface="Calibri"/>
                        </a:rPr>
                        <a:t>0.77097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33"/>
                          </a:solidFill>
                          <a:latin typeface="Calibri"/>
                        </a:rPr>
                        <a:t>+680.5% (7.8x)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0.16919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  <a:latin typeface="Calibri"/>
                        </a:rPr>
                        <a:t>0.91049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33"/>
                          </a:solidFill>
                          <a:latin typeface="Calibri"/>
                        </a:rPr>
                        <a:t>+438.1% (5.4x)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Recall@100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0.34343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  <a:latin typeface="Calibri"/>
                        </a:rPr>
                        <a:t>0.98114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33"/>
                          </a:solidFill>
                          <a:latin typeface="Calibri"/>
                        </a:rPr>
                        <a:t>+185.7% (2.9x)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Recall@1000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0.68127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  <a:latin typeface="Calibri"/>
                        </a:rPr>
                        <a:t>0.99655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33"/>
                          </a:solidFill>
                          <a:latin typeface="Calibri"/>
                        </a:rPr>
                        <a:t>+46.3%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[Future Work - P1 Roadmap] AST-Aware Hierarchical Code Chunking: </a:t>
            </a:r>
            <a:r>
              <a:rPr sz="1500" b="0">
                <a:solidFill>
                  <a:srgbClr val="323232"/>
                </a:solidFill>
                <a:latin typeface="Calibri"/>
              </a:rPr>
              <a:t>Integrate Tree-sitter AST parsing to chunk source code along structural function, method, and class boundaries rather than arbitrary token cuts, preserving contextual lexical scope.</a:t>
            </a:r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[Future Work - P1 Roadmap] Hybrid Sparse-Dense Retrieval (BM25 + Dense): </a:t>
            </a:r>
            <a:r>
              <a:rPr sz="1500" b="0">
                <a:solidFill>
                  <a:srgbClr val="323232"/>
                </a:solidFill>
                <a:latin typeface="Calibri"/>
              </a:rPr>
              <a:t>Combine BM25 lexical token matching with dense embeddings using Reciprocal Rank Fusion (RRF) to capture rare identifier names alongside deep semantic intent.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[Future Work - P1 Roadmap] Multi-Version Repository Indexing: </a:t>
            </a:r>
            <a:r>
              <a:rPr sz="1500" b="0">
                <a:solidFill>
                  <a:srgbClr val="323232"/>
                </a:solidFill>
                <a:latin typeface="Calibri"/>
              </a:rPr>
              <a:t>Incremental Git commit indexing: Compute vector deltas for modified files only, avoiding full re-indexing of unchanged repository files.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[Future Work - P2 Roadmap] Agentic Multi-Hop Retrieval: </a:t>
            </a:r>
            <a:r>
              <a:rPr sz="1500" b="0">
                <a:solidFill>
                  <a:srgbClr val="323232"/>
                </a:solidFill>
                <a:latin typeface="Calibri"/>
              </a:rPr>
              <a:t>Implement iterative query expansion and verification loops where an autonomous agent refines search criteria based on intermediate candidate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2800"/>
              <a:buNone/>
            </a:pPr>
            <a:r>
              <a:rPr sz="1500" b="1">
                <a:solidFill>
                  <a:srgbClr val="14233C"/>
                </a:solidFill>
                <a:latin typeface="Calibri"/>
              </a:rPr>
              <a:t>1. Exceptional Verified Retrieval Accuracy: </a:t>
            </a:r>
            <a:r>
              <a:rPr sz="1500" b="0">
                <a:solidFill>
                  <a:srgbClr val="323232"/>
                </a:solidFill>
                <a:latin typeface="Calibri"/>
              </a:rPr>
              <a:t>Delivered a massive +0.68969 NDCG@10 (+598.5%) improvement over baseline on the official, full CoIR Apps test split (3,765 test queries against 8,765 documents).</a:t>
            </a:r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2. Complete Empirical Honesty &amp; Transparency: </a:t>
            </a:r>
            <a:r>
              <a:rPr sz="1500" b="0">
                <a:solidFill>
                  <a:srgbClr val="323232"/>
                </a:solidFill>
                <a:latin typeface="Calibri"/>
              </a:rPr>
              <a:t>No simulated or fabricated metrics. Entire test evaluation ran end-to-end on CPU (112 mins). The shipped P0 system is strictly dense semantic retrieval, while all roadmap features are clearly labeled as future work.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3. Judge-First Usability &amp; Reliability: </a:t>
            </a:r>
            <a:r>
              <a:rPr sz="1500" b="0">
                <a:solidFill>
                  <a:srgbClr val="323232"/>
                </a:solidFill>
                <a:latin typeface="Calibri"/>
              </a:rPr>
              <a:t>Interactive CLI demo with deterministic benchmark corpus, 9/9 automated tests passing (100% pass rate), and automated gated model mirror fallback preventing runtime authorization crashes.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33C"/>
                </a:solidFill>
                <a:latin typeface="Calibri"/>
              </a:rPr>
              <a:t>4. Methodological Discipline: </a:t>
            </a:r>
            <a:r>
              <a:rPr sz="1500" b="0">
                <a:solidFill>
                  <a:srgbClr val="323232"/>
                </a:solidFill>
                <a:latin typeface="Calibri"/>
              </a:rPr>
              <a:t>Resisted premature feature bloat and concentrated effort entirely on maximizing P0 retrieval accuracy as prioritized in Samsung's hackathon guidelines.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63637E"/>
              </a:buClr>
              <a:buSzPts val="2800"/>
              <a:buChar char="•"/>
            </a:pPr>
            <a:r>
              <a:rPr sz="1600" b="0">
                <a:solidFill>
                  <a:srgbClr val="282828"/>
                </a:solidFill>
                <a:latin typeface="Calibri"/>
              </a:rPr>
              <a:t>Working prototype code – public or shared GitHub repo: </a:t>
            </a:r>
            <a:r>
              <a:rPr sz="1600" b="1">
                <a:solidFill>
                  <a:srgbClr val="006633"/>
                </a:solidFill>
                <a:latin typeface="Calibri"/>
              </a:rPr>
              <a:t>YES</a:t>
            </a:r>
            <a:r>
              <a:rPr sz="1400" b="0">
                <a:solidFill>
                  <a:srgbClr val="505050"/>
                </a:solidFill>
                <a:latin typeface="Calibri"/>
              </a:rPr>
              <a:t> (https://github.com/Mithun-Newt/agentic_code_intelligence.git)</a:t>
            </a:r>
            <a:endParaRPr sz="280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README with reproducible setup instructions: </a:t>
            </a:r>
            <a:r>
              <a:rPr sz="1600" b="1">
                <a:solidFill>
                  <a:srgbClr val="006633"/>
                </a:solidFill>
                <a:latin typeface="Calibri"/>
              </a:rPr>
              <a:t>YES</a:t>
            </a:r>
            <a:r>
              <a:rPr sz="1400" b="0">
                <a:solidFill>
                  <a:srgbClr val="505050"/>
                </a:solidFill>
                <a:latin typeface="Calibri"/>
              </a:rPr>
              <a:t> (Complete installation, CLI demo, and MTEB evaluation commands)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Demo video, max 5 minutes (YouTube or Drive link): </a:t>
            </a:r>
            <a:r>
              <a:rPr sz="1600" b="1">
                <a:solidFill>
                  <a:srgbClr val="006633"/>
                </a:solidFill>
                <a:latin typeface="Calibri"/>
              </a:rPr>
              <a:t>YES</a:t>
            </a:r>
            <a:r>
              <a:rPr sz="1400" b="0">
                <a:solidFill>
                  <a:srgbClr val="505050"/>
                </a:solidFill>
                <a:latin typeface="Calibri"/>
              </a:rPr>
              <a:t> (https://drive.google.com/file/d/1ygrzH9wNctm0r5rT4pi3kkJrUA_bPuJz/view?usp=sharing)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600" b="0">
                <a:solidFill>
                  <a:srgbClr val="282828"/>
                </a:solidFill>
                <a:latin typeface="Calibri"/>
              </a:rPr>
              <a:t>Presentation file (PPT or PDF): </a:t>
            </a:r>
            <a:r>
              <a:rPr sz="1600" b="1">
                <a:solidFill>
                  <a:srgbClr val="006633"/>
                </a:solidFill>
                <a:latin typeface="Calibri"/>
              </a:rPr>
              <a:t>YES</a:t>
            </a:r>
            <a:r>
              <a:rPr sz="1400" b="0">
                <a:solidFill>
                  <a:srgbClr val="505050"/>
                </a:solidFill>
                <a:latin typeface="Calibri"/>
              </a:rPr>
              <a:t> (submission/CollegeName_TeamName_Submission.pptx &amp; .pdf)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2000"/>
              </a:spcBef>
            </a:pPr>
            <a:r>
              <a:rPr sz="1400">
                <a:solidFill>
                  <a:srgbClr val="464646"/>
                </a:solidFill>
                <a:latin typeface="Calibri"/>
              </a:rPr>
              <a:t>Team: CodeNexus
Repository: https://github.com/Mithun-Newt/agentic_code_intelligence.git
Shipped P0 Engine: Dense Semantic Retrieval with EmbeddingGemma-300M (NDCG@10 = 0.80492)
Ready for Technical Q&amp;A and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